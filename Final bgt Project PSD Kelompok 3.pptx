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69" r:id="rId7"/>
    <p:sldId id="271" r:id="rId8"/>
    <p:sldId id="274" r:id="rId9"/>
    <p:sldId id="275" r:id="rId10"/>
    <p:sldId id="276" r:id="rId11"/>
    <p:sldId id="272" r:id="rId12"/>
    <p:sldId id="27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49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SAINS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Customer Churn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Perusahaan Telekomunikasi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Dataset Telco Customer Churn — Eksplorasi, Pembersihan Data, dan Visualisasi untuk Memahami Pola Pelanggan yang Berhenti Berlangganan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0972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7315200" cy="709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3: 1. </a:t>
            </a:r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Sisilya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Leonila </a:t>
            </a:r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Sorlury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(25.11.6566)</a:t>
            </a:r>
          </a:p>
          <a:p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2. Adnan Nur </a:t>
            </a:r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Kholis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(25.11.6582)</a:t>
            </a:r>
          </a:p>
          <a:p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3. Dimas </a:t>
            </a:r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probo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Sanjaya (25.11.6460)</a:t>
            </a:r>
          </a:p>
          <a:p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4.  Dwi Aunika (25.11.6490)</a:t>
            </a:r>
          </a:p>
          <a:p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5. </a:t>
            </a:r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Lutfiana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Ade Nur A (25.21.1611)</a:t>
            </a:r>
          </a:p>
          <a:p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6. </a:t>
            </a:r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Timotius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Wilkristiano</a:t>
            </a:r>
            <a:r>
              <a:rPr lang="en-US" sz="12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Rabo (25.11.6488)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9E998-5809-631A-9453-9D6CC165AEF4}"/>
              </a:ext>
            </a:extLst>
          </p:cNvPr>
          <p:cNvSpPr txBox="1"/>
          <p:nvPr/>
        </p:nvSpPr>
        <p:spPr>
          <a:xfrm>
            <a:off x="388398" y="6032183"/>
            <a:ext cx="8649070" cy="48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</a:t>
            </a:r>
            <a:r>
              <a:rPr lang="en-US" sz="1100" dirty="0" err="1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Informatika</a:t>
            </a:r>
            <a:r>
              <a:rPr lang="en-US" sz="11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00" dirty="0" err="1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Fakultas</a:t>
            </a:r>
            <a:r>
              <a:rPr lang="en-US" sz="11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</a:t>
            </a:r>
            <a:r>
              <a:rPr lang="en-US" sz="11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r>
              <a:rPr lang="en-US" sz="11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Dosen </a:t>
            </a:r>
            <a:r>
              <a:rPr lang="en-US" sz="1100" dirty="0" err="1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Pengampu</a:t>
            </a:r>
            <a:r>
              <a:rPr lang="en-US" sz="11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Abd. Mizwar A. Rahim, </a:t>
            </a:r>
            <a:r>
              <a:rPr lang="en-US" sz="1100" dirty="0" err="1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M.Kom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AMIKOM Yogyakarta · 2026</a:t>
            </a:r>
            <a:endParaRPr lang="en-US" sz="11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2ECFE8B-7929-4398-348B-EBDD6A7438D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8128002" cy="274320"/>
        </p:xfrm>
        <a:graphic>
          <a:graphicData uri="http://schemas.openxmlformats.org/drawingml/2006/table">
            <a:tbl>
              <a:tblPr/>
              <a:tblGrid>
                <a:gridCol w="1846263">
                  <a:extLst>
                    <a:ext uri="{9D8B030D-6E8A-4147-A177-3AD203B41FA5}">
                      <a16:colId xmlns:a16="http://schemas.microsoft.com/office/drawing/2014/main" val="1850144113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245980001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852245794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427402265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763704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r>
                        <a:rPr lang="en-ID">
                          <a:effectLst/>
                        </a:rPr>
                        <a:t> </a:t>
                      </a: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 dirty="0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09517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103141C-F2A7-F8EE-CB55-9D497284929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8128002" cy="274320"/>
        </p:xfrm>
        <a:graphic>
          <a:graphicData uri="http://schemas.openxmlformats.org/drawingml/2006/table">
            <a:tbl>
              <a:tblPr/>
              <a:tblGrid>
                <a:gridCol w="1846263">
                  <a:extLst>
                    <a:ext uri="{9D8B030D-6E8A-4147-A177-3AD203B41FA5}">
                      <a16:colId xmlns:a16="http://schemas.microsoft.com/office/drawing/2014/main" val="52862031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106874667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85530734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2907232744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4069571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r>
                        <a:rPr lang="en-ID">
                          <a:effectLst/>
                        </a:rPr>
                        <a:t> </a:t>
                      </a: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 dirty="0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41206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108EF6F-9506-E744-3C96-27E2D82CEA3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8128002" cy="274320"/>
        </p:xfrm>
        <a:graphic>
          <a:graphicData uri="http://schemas.openxmlformats.org/drawingml/2006/table">
            <a:tbl>
              <a:tblPr/>
              <a:tblGrid>
                <a:gridCol w="1846263">
                  <a:extLst>
                    <a:ext uri="{9D8B030D-6E8A-4147-A177-3AD203B41FA5}">
                      <a16:colId xmlns:a16="http://schemas.microsoft.com/office/drawing/2014/main" val="1324329928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165293702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3707341424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1257714211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41264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r>
                        <a:rPr lang="en-ID">
                          <a:effectLst/>
                        </a:rPr>
                        <a:t> </a:t>
                      </a: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75"/>
                        </a:spcBef>
                        <a:buNone/>
                      </a:pPr>
                      <a:endParaRPr lang="en-ID" dirty="0">
                        <a:effectLst/>
                      </a:endParaRPr>
                    </a:p>
                  </a:txBody>
                  <a:tcPr marL="0" marR="3556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365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Analisis Churn Penting?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E3F4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Biaya Akuisisi Tinggi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Mendapatkan pelanggan baru jauh lebih mahal dibanding mempertahankan pelanggan lama.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rgbClr val="E3F4F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 Dini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pola churn membantu perusahaan mengenali pelanggan berisiko sejak awal.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E3F4F2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Retensi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3375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dari data mendukung keputusan bisnis yang lebih tepat sasaran.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0B2B3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ANALISIS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Membersihkan dan mengeksplorasi dataset Telco Customer Churn, menghasilkan statistik deskriptif, serta memvisualisasikan pola churn, hubungan antar-variabel, dan korelasi numerik untuk mendukung pengambilan keputusan bisnis.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E3F4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(pelanggan)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E3F4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918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4560" y="32918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/ variabel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E3F4F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17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94560" y="46177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churn pelanggan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6949440" cy="4114800"/>
          </a:xfrm>
          <a:prstGeom prst="roundRect">
            <a:avLst>
              <a:gd name="adj" fmla="val 2667"/>
            </a:avLst>
          </a:prstGeom>
          <a:solidFill>
            <a:srgbClr val="F4F9F8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1031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Kelompok Variabel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83480" y="26517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532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53288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 Partner, Dependents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327355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3154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Langganan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1546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PhoneService, InternetService, Contract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389534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37764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Tambahan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77647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OnlineSecurity, TechSupport, StreamingTV/Movies, dll.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0" y="45171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43982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Tagihan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439826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 TotalCharges, PaymentMethod, PaperlessBilling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83480" y="5138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50200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502005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(Yes / No)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PRA-PEMROSESAN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Pembersihan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 Nilai Kosong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TotalCharges memiliki entri berupa spasi kosong, bukan angka.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2331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Konversi Tipe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spasi diubah menjadi NaN, lalu kolom dikonversi ke tipe numerik.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2331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Imputasi Median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hilang diisi menggunakan median dari kolom TotalCharges.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2331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8116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 Duplikat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dicek ulang untuk memastikan tidak ada baris duplikat maupun ID ganda.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 Deskriptif Variabel Numerik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011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(bulan)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Charges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Charges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2.281,92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2.265,27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1.397,48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8.684,80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0B2B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lama berlangganan (tenure) pelanggan adalah 32 bulan, dengan sebaran yang cukup lebar (0–72 bulan).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tagihan bulanan sekitar Rp64,76 (satuan data), sementara total tagihan bervariasi besar karena dipengaruhi lama berlangganan.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Pelanggan Berdasarkan Churn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78040" y="1691640"/>
            <a:ext cx="4434840" cy="1371600"/>
          </a:xfrm>
          <a:prstGeom prst="roundRect">
            <a:avLst>
              <a:gd name="adj" fmla="val 6667"/>
            </a:avLst>
          </a:prstGeom>
          <a:solidFill>
            <a:srgbClr val="E3F4F2"/>
          </a:solidFill>
          <a:ln/>
        </p:spPr>
      </p:sp>
      <p:sp>
        <p:nvSpPr>
          <p:cNvPr id="7" name="Text 4"/>
          <p:cNvSpPr/>
          <p:nvPr/>
        </p:nvSpPr>
        <p:spPr>
          <a:xfrm>
            <a:off x="74523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5.174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452360" y="24231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Tidak Churn (73,5%)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78040" y="3200400"/>
            <a:ext cx="4434840" cy="1371600"/>
          </a:xfrm>
          <a:prstGeom prst="roundRect">
            <a:avLst>
              <a:gd name="adj" fmla="val 6667"/>
            </a:avLst>
          </a:prstGeom>
          <a:solidFill>
            <a:srgbClr val="0B2B33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1.869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452360" y="39319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Churn (26,5%)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4754880"/>
            <a:ext cx="4434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Lebih dari seperempat pelanggan telah berhenti berlangganan — angka yang cukup signifikan untuk ditindaklanjuti dengan strategi retensi.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3BDB09-AE25-EBE5-4C11-22B8479D3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70" y="1854679"/>
            <a:ext cx="5816899" cy="4159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 Korelasi Antar Variabel Numerik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31720" y="1645920"/>
            <a:ext cx="7498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pic>
        <p:nvPicPr>
          <p:cNvPr id="5" name="Image 0" descr="images/grafik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0" y="1828800"/>
            <a:ext cx="70408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03120"/>
            <a:ext cx="1691640" cy="3566160"/>
          </a:xfrm>
          <a:prstGeom prst="roundRect">
            <a:avLst>
              <a:gd name="adj" fmla="val 5405"/>
            </a:avLst>
          </a:prstGeom>
          <a:solidFill>
            <a:srgbClr val="0B2B33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2331720"/>
            <a:ext cx="1371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merah menunjukkan korelasi positif kuat; warna biru menunjukkan korelasi negatif.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Pelanggan Berdasarkan Jenis Kontrak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94960" y="1691640"/>
            <a:ext cx="6217920" cy="4480560"/>
          </a:xfrm>
          <a:prstGeom prst="roundRect">
            <a:avLst>
              <a:gd name="adj" fmla="val 2449"/>
            </a:avLst>
          </a:prstGeom>
          <a:solidFill>
            <a:srgbClr val="F4F9F8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pic>
        <p:nvPicPr>
          <p:cNvPr id="5" name="Image 0" descr="images/grafik_kontrak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08690" y="1920240"/>
            <a:ext cx="55904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Kontrak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9456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pelanggan menggunakan kontrak Month-to-month, jauh lebih banyak dibanding One year maupun Two year.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4612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Month-to-month umumnya tidak mengikat, sehingga pelanggan lebih mudah berpindah atau berhenti berlangganan kapan saja.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29768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ini mengindikasikan jenis kontrak berpotensi menjadi salah satu faktor pendorong churn yang perlu ditelusuri lebih lanjut.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Charges Berdasarkan Status Churn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94960" y="1691640"/>
            <a:ext cx="6217920" cy="4480560"/>
          </a:xfrm>
          <a:prstGeom prst="roundRect">
            <a:avLst>
              <a:gd name="adj" fmla="val 2449"/>
            </a:avLst>
          </a:prstGeom>
          <a:solidFill>
            <a:srgbClr val="F4F9F8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pic>
        <p:nvPicPr>
          <p:cNvPr id="5" name="Image 0" descr="images/grafik_boxplot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33502" y="1920240"/>
            <a:ext cx="5540836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Tagihan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9456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yang churn cenderung memiliki median Monthly Charges yang lebih tinggi dibanding yang tidak churn.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4612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tagihan pelanggan churn lebih terkonsentrasi di kisaran menengah–tinggi, berbeda dari pelanggan yang bertahan.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29768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Tagihan bulanan yang lebih besar tampak berasosiasi dengan kecenderungan berhenti berlangganan yang lebih tinggi.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Monthly Charges Pelanggan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94960" y="1691640"/>
            <a:ext cx="6217920" cy="4480560"/>
          </a:xfrm>
          <a:prstGeom prst="roundRect">
            <a:avLst>
              <a:gd name="adj" fmla="val 2449"/>
            </a:avLst>
          </a:prstGeom>
          <a:solidFill>
            <a:srgbClr val="F4F9F8"/>
          </a:solidFill>
          <a:ln/>
          <a:effectLst>
            <a:outerShdw blurRad="101600" dist="38100" dir="5400000" algn="bl" rotWithShape="0">
              <a:srgbClr val="1B4B52">
                <a:alpha val="15000"/>
              </a:srgbClr>
            </a:outerShdw>
          </a:effectLst>
        </p:spPr>
      </p:sp>
      <p:pic>
        <p:nvPicPr>
          <p:cNvPr id="5" name="Image 0" descr="images/grafik_distribusi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23560" y="2107436"/>
            <a:ext cx="5760720" cy="364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Distribusi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9456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Monthly Charges tampak bimodal, dengan puncak di sekitar tagihan rendah dan tagihan menengah–tinggi.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4612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tagihan rendah kemungkinan besar pelanggan dengan layanan dasar (mis. hanya telepon), tanpa layanan tambahan.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29768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tagihan lebih tinggi mengindikasikan pelanggan dengan paket internet dan layanan tambahan yang lebih lengkap.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Temuan Analisis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2414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bersih dan siap dianalisis setelah imputasi median pada TotalCharges.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241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148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26,5% dari total 7.043 pelanggan tercatat melakukan churn — proporsi yang cukup besar.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241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1148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dan Monthly Charges tidak berhubungan linear kuat; tagihan lebih ditentukan oleh jenis layanan.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241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41148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korelasi membantu mengidentifikasi variabel numerik yang saling berkaitan sebagai dasar analisis lanjutan.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Telco Customer Churn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B2B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Sains Data — Analisis Telco Customer Churn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109728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&amp; diskusi dipersilakan.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777</Words>
  <Application>Microsoft Office PowerPoint</Application>
  <PresentationFormat>Widescreen</PresentationFormat>
  <Paragraphs>163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lutfiana ade</cp:lastModifiedBy>
  <cp:revision>4</cp:revision>
  <dcterms:created xsi:type="dcterms:W3CDTF">2026-07-13T04:29:32Z</dcterms:created>
  <dcterms:modified xsi:type="dcterms:W3CDTF">2026-07-14T07:08:50Z</dcterms:modified>
</cp:coreProperties>
</file>